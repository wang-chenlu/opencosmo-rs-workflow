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300" b="1">
                <a:solidFill>
                  <a:srgbClr val="1C2430"/>
                </a:solidFill>
                <a:latin typeface="Microsoft YaHei"/>
              </a:defRPr>
            </a:pPr>
            <a:r>
              <a:t>PET 在四种溶剂中的 openCOSMO-RS 溶解度预测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596372"/>
                </a:solidFill>
                <a:latin typeface="Microsoft YaHei"/>
              </a:defRPr>
            </a:pPr>
            <a:r>
              <a:t>最新结果汇总：GVL、NMP、CH2O2/甲酸、ISOPROPANOL；10 个 PET 构型，T = 298.15 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508760"/>
            <a:ext cx="2667762" cy="1051560"/>
          </a:xfrm>
          <a:prstGeom prst="roundRect">
            <a:avLst/>
          </a:prstGeom>
          <a:solidFill>
            <a:srgbClr val="235CA8"/>
          </a:solidFill>
          <a:ln>
            <a:solidFill>
              <a:srgbClr val="23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50" b="1">
                <a:solidFill>
                  <a:srgbClr val="FFFFFF"/>
                </a:solidFill>
                <a:latin typeface="Microsoft YaHei"/>
              </a:defRPr>
            </a:pPr>
            <a:r>
              <a:t>MD 构型</a:t>
            </a:r>
          </a:p>
          <a:p>
            <a:pPr algn="ctr">
              <a:defRPr sz="840" b="0">
                <a:solidFill>
                  <a:srgbClr val="FFFFFF"/>
                </a:solidFill>
                <a:latin typeface="Microsoft YaHei"/>
              </a:defRPr>
            </a:pPr>
            <a:r>
              <a:t>1-10 ns PET 三聚体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16402" y="1901952"/>
            <a:ext cx="1645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596372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07842" y="1508760"/>
            <a:ext cx="2667762" cy="1051560"/>
          </a:xfrm>
          <a:prstGeom prst="roundRect">
            <a:avLst/>
          </a:prstGeom>
          <a:solidFill>
            <a:srgbClr val="227A5E"/>
          </a:solidFill>
          <a:ln>
            <a:solidFill>
              <a:srgbClr val="227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50" b="1">
                <a:solidFill>
                  <a:srgbClr val="FFFFFF"/>
                </a:solidFill>
                <a:latin typeface="Microsoft YaHei"/>
              </a:defRPr>
            </a:pPr>
            <a:r>
              <a:t>ORCA</a:t>
            </a:r>
          </a:p>
          <a:p>
            <a:pPr algn="ctr">
              <a:defRPr sz="840" b="0">
                <a:solidFill>
                  <a:srgbClr val="FFFFFF"/>
                </a:solidFill>
                <a:latin typeface="Microsoft YaHei"/>
              </a:defRPr>
            </a:pPr>
            <a:r>
              <a:t>优化 + COSMORS 单点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93892" y="1901952"/>
            <a:ext cx="1645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596372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5332" y="1508760"/>
            <a:ext cx="2667762" cy="1051560"/>
          </a:xfrm>
          <a:prstGeom prst="roundRect">
            <a:avLst/>
          </a:prstGeom>
          <a:solidFill>
            <a:srgbClr val="B07524"/>
          </a:solidFill>
          <a:ln>
            <a:solidFill>
              <a:srgbClr val="B0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50" b="1">
                <a:solidFill>
                  <a:srgbClr val="FFFFFF"/>
                </a:solidFill>
                <a:latin typeface="Microsoft YaHei"/>
              </a:defRPr>
            </a:pPr>
            <a:r>
              <a:t>openCOSMO-RS</a:t>
            </a:r>
          </a:p>
          <a:p>
            <a:pPr algn="ctr">
              <a:defRPr sz="840" b="0">
                <a:solidFill>
                  <a:srgbClr val="FFFFFF"/>
                </a:solidFill>
                <a:latin typeface="Microsoft YaHei"/>
              </a:defRPr>
            </a:pPr>
            <a:r>
              <a:t>.orcacosmo -&gt; ln(gamma)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1382" y="1901952"/>
            <a:ext cx="1645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596372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2822" y="1508760"/>
            <a:ext cx="2667762" cy="1051560"/>
          </a:xfrm>
          <a:prstGeom prst="roundRect">
            <a:avLst/>
          </a:prstGeom>
          <a:solidFill>
            <a:srgbClr val="AC3636"/>
          </a:solidFill>
          <a:ln>
            <a:solidFill>
              <a:srgbClr val="AC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50" b="1">
                <a:solidFill>
                  <a:srgbClr val="FFFFFF"/>
                </a:solidFill>
                <a:latin typeface="Microsoft YaHei"/>
              </a:defRPr>
            </a:pPr>
            <a:r>
              <a:t>溶解度</a:t>
            </a:r>
          </a:p>
          <a:p>
            <a:pPr algn="ctr">
              <a:defRPr sz="840" b="0">
                <a:solidFill>
                  <a:srgbClr val="FFFFFF"/>
                </a:solidFill>
                <a:latin typeface="Microsoft YaHei"/>
              </a:defRPr>
            </a:pPr>
            <a:r>
              <a:t>x 与 g/g solvent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37560"/>
            <a:ext cx="10515600" cy="685800"/>
          </a:xfrm>
          <a:prstGeom prst="roundRect">
            <a:avLst/>
          </a:prstGeom>
          <a:solidFill>
            <a:srgbClr val="F3F6FA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200" b="0">
                <a:solidFill>
                  <a:srgbClr val="1C2430"/>
                </a:solidFill>
                <a:latin typeface="Microsoft YaHei"/>
              </a:defRPr>
            </a:pPr>
            <a:r>
              <a:t>建议主表采用 g/g_iter：NMP 的无限稀释近似在 5/10 个构型中给出 x_inf_raw &gt; 1，导致 g/g_inf 为 inf，不能直接平均。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20" b="0">
                <a:solidFill>
                  <a:srgbClr val="596372"/>
                </a:solidFill>
                <a:latin typeface="Microsoft YaHei"/>
              </a:defRPr>
            </a:pPr>
            <a:r>
              <a:t>数据来源：job/pet_1_10ns_solubility_results 与 job/pet_extra_solvent_solubility_results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300" b="1">
                <a:solidFill>
                  <a:srgbClr val="1C2430"/>
                </a:solidFill>
                <a:latin typeface="Microsoft YaHei"/>
              </a:defRPr>
            </a:pPr>
            <a:r>
              <a:t>核心结论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596372"/>
                </a:solidFill>
                <a:latin typeface="Microsoft YaHei"/>
              </a:defRPr>
            </a:pPr>
            <a:r>
              <a:t>按平均 g/g_iter 排序：NMP &gt; GVL &gt; ISOPROPANOL &gt; CH2O2/甲酸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143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1C2430"/>
                </a:solidFill>
                <a:latin typeface="Microsoft YaHei"/>
              </a:defRPr>
            </a:pPr>
            <a:r>
              <a:t>GVL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7400" y="1325880"/>
            <a:ext cx="8229600" cy="864108"/>
          </a:xfrm>
          <a:prstGeom prst="rect">
            <a:avLst/>
          </a:prstGeom>
          <a:solidFill>
            <a:srgbClr val="F3F6FA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0" y="1325880"/>
            <a:ext cx="1041634" cy="864108"/>
          </a:xfrm>
          <a:prstGeom prst="rect">
            <a:avLst/>
          </a:prstGeom>
          <a:solidFill>
            <a:srgbClr val="235CA8"/>
          </a:solidFill>
          <a:ln>
            <a:solidFill>
              <a:srgbClr val="23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8762" y="1344168"/>
            <a:ext cx="914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solidFill>
                  <a:srgbClr val="1C2430"/>
                </a:solidFill>
                <a:latin typeface="Microsoft YaHei"/>
              </a:defRPr>
            </a:pPr>
            <a:r>
              <a:t>0.104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82012"/>
            <a:ext cx="1143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1C2430"/>
                </a:solidFill>
                <a:latin typeface="Microsoft YaHei"/>
              </a:defRPr>
            </a:pPr>
            <a:r>
              <a:t>NMP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2354580"/>
            <a:ext cx="8229600" cy="864108"/>
          </a:xfrm>
          <a:prstGeom prst="rect">
            <a:avLst/>
          </a:prstGeom>
          <a:solidFill>
            <a:srgbClr val="F3F6FA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0" y="2354580"/>
            <a:ext cx="8229600" cy="864108"/>
          </a:xfrm>
          <a:prstGeom prst="rect">
            <a:avLst/>
          </a:prstGeom>
          <a:solidFill>
            <a:srgbClr val="227A5E"/>
          </a:solidFill>
          <a:ln>
            <a:solidFill>
              <a:srgbClr val="227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48088" y="2372868"/>
            <a:ext cx="914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solidFill>
                  <a:srgbClr val="1C2430"/>
                </a:solidFill>
                <a:latin typeface="Microsoft YaHei"/>
              </a:defRPr>
            </a:pPr>
            <a:r>
              <a:t>0.824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10712"/>
            <a:ext cx="1143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1C2430"/>
                </a:solidFill>
                <a:latin typeface="Microsoft YaHei"/>
              </a:defRPr>
            </a:pPr>
            <a:r>
              <a:t>CH2O2 / 甲酸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3383280"/>
            <a:ext cx="8229600" cy="864108"/>
          </a:xfrm>
          <a:prstGeom prst="rect">
            <a:avLst/>
          </a:prstGeom>
          <a:solidFill>
            <a:srgbClr val="F3F6FA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7400" y="3383280"/>
            <a:ext cx="10820" cy="864108"/>
          </a:xfrm>
          <a:prstGeom prst="rect">
            <a:avLst/>
          </a:prstGeom>
          <a:solidFill>
            <a:srgbClr val="B07524"/>
          </a:solidFill>
          <a:ln>
            <a:solidFill>
              <a:srgbClr val="B0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77948" y="3401568"/>
            <a:ext cx="914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solidFill>
                  <a:srgbClr val="1C2430"/>
                </a:solidFill>
                <a:latin typeface="Microsoft YaHei"/>
              </a:defRPr>
            </a:pPr>
            <a:r>
              <a:t>0.00108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39412"/>
            <a:ext cx="1143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1C2430"/>
                </a:solidFill>
                <a:latin typeface="Microsoft YaHei"/>
              </a:defRPr>
            </a:pPr>
            <a:r>
              <a:t>ISOPROPANOL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400" y="4411980"/>
            <a:ext cx="8229600" cy="864108"/>
          </a:xfrm>
          <a:prstGeom prst="rect">
            <a:avLst/>
          </a:prstGeom>
          <a:solidFill>
            <a:srgbClr val="F3F6FA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57400" y="4411980"/>
            <a:ext cx="212219" cy="864108"/>
          </a:xfrm>
          <a:prstGeom prst="rect">
            <a:avLst/>
          </a:prstGeom>
          <a:solidFill>
            <a:srgbClr val="6D52A1"/>
          </a:solidFill>
          <a:ln>
            <a:solidFill>
              <a:srgbClr val="6D5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9347" y="4430268"/>
            <a:ext cx="914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solidFill>
                  <a:srgbClr val="1C2430"/>
                </a:solidFill>
                <a:latin typeface="Microsoft YaHei"/>
              </a:defRPr>
            </a:pPr>
            <a:r>
              <a:t>0.0212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532120"/>
            <a:ext cx="10195560" cy="566928"/>
          </a:xfrm>
          <a:prstGeom prst="roundRect">
            <a:avLst/>
          </a:prstGeom>
          <a:solidFill>
            <a:srgbClr val="F3F6FA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200" b="0">
                <a:solidFill>
                  <a:srgbClr val="1C2430"/>
                </a:solidFill>
                <a:latin typeface="Microsoft YaHei"/>
              </a:defRPr>
            </a:pPr>
            <a:r>
              <a:t>NMP 预测溶解能力最高；GVL 次之；异丙醇明显低于 GVL；甲酸在本模型下对 PET 的溶解度最低。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20" b="0">
                <a:solidFill>
                  <a:srgbClr val="596372"/>
                </a:solidFill>
                <a:latin typeface="Microsoft YaHei"/>
              </a:defRPr>
            </a:pPr>
            <a:r>
              <a:t>指标：10 个 PET 构型的 g PET / g solvent，采用迭代解 g/g_iter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300" b="1">
                <a:solidFill>
                  <a:srgbClr val="1C2430"/>
                </a:solidFill>
                <a:latin typeface="Microsoft YaHei"/>
              </a:defRPr>
            </a:pPr>
            <a:r>
              <a:t>四种溶剂汇总表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596372"/>
                </a:solidFill>
                <a:latin typeface="Microsoft YaHei"/>
              </a:defRPr>
            </a:pPr>
            <a:r>
              <a:t>单位：g PET / g solvent；按用户指定顺序排列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188720"/>
          <a:ext cx="96469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508760"/>
                <a:gridCol w="1508760"/>
                <a:gridCol w="1508760"/>
                <a:gridCol w="1508760"/>
                <a:gridCol w="150876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溶剂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mean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median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stdev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min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max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GVL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0.104234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0.0908393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0.0614768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0.0370745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0.193411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NMP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0.823519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0.787777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0.269335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0.417751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1.17855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CH2O2 / 甲酸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0.00108275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0.000530804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0.00115198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3.34207e-05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0.00288648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ISOPROPANOL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0.0212363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0.0137009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0.0212108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0.00208687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0.0597201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20" b="0">
                <a:solidFill>
                  <a:srgbClr val="596372"/>
                </a:solidFill>
                <a:latin typeface="Microsoft YaHei"/>
              </a:defRPr>
            </a:pPr>
            <a:r>
              <a:t>采用 g/g_iter；T = 298.15 K；PET: DeltaHfus = 54.3 J/g, Tfus = 533.15 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300" b="1">
                <a:solidFill>
                  <a:srgbClr val="1C2430"/>
                </a:solidFill>
                <a:latin typeface="Microsoft YaHei"/>
              </a:defRPr>
            </a:pPr>
            <a:r>
              <a:t>为什么 NMP 不建议用 g/g_inf 平均值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596372"/>
                </a:solidFill>
                <a:latin typeface="Microsoft YaHei"/>
              </a:defRPr>
            </a:pPr>
            <a:r>
              <a:t>无限稀释近似可以筛选趋势，但在高溶解度体系可能越界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70432"/>
          <a:ext cx="10058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溶剂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g/g_inf mean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g/g_iter mean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g/g_inf 非有限值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建议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GVL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0.139753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0.104234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0/10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inf/iter 均可报告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NMP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4.74078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0.823519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5/10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看 iter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CH2O2 / 甲酸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0.00106682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0.00108275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0/10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inf/iter 均可报告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ISOPROPANOL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0.0203421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0.0212363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0/10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inf/iter 均可报告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4160520"/>
            <a:ext cx="10378440" cy="685800"/>
          </a:xfrm>
          <a:prstGeom prst="roundRect">
            <a:avLst/>
          </a:prstGeom>
          <a:solidFill>
            <a:srgbClr val="F3F6FA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200" b="0">
                <a:solidFill>
                  <a:srgbClr val="1C2430"/>
                </a:solidFill>
                <a:latin typeface="Microsoft YaHei"/>
              </a:defRPr>
            </a:pPr>
            <a:r>
              <a:t>当 x_inf_raw &gt;= 1 时，x_solvent = 1 - x_solute 接近 0，g/g 的换算会发散。因此 NMP 的非迭代 g/g_inf 不应作为平均比较值。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20" b="0">
                <a:solidFill>
                  <a:srgbClr val="596372"/>
                </a:solidFill>
                <a:latin typeface="Microsoft YaHei"/>
              </a:defRPr>
            </a:pPr>
            <a:r>
              <a:t>脚本：job/orca_full_workflow/14_calculate_pet_extra_solvents_solubility.py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300" b="1">
                <a:solidFill>
                  <a:srgbClr val="1C2430"/>
                </a:solidFill>
                <a:latin typeface="Microsoft YaHei"/>
              </a:defRPr>
            </a:pPr>
            <a:r>
              <a:t>计算公式与单位换算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596372"/>
                </a:solidFill>
                <a:latin typeface="Microsoft YaHei"/>
              </a:defRPr>
            </a:pPr>
            <a:r>
              <a:t>openCOSMO-RS 给出 ln(gamma)，溶解度由固液平衡方程得到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0704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100" b="1">
                <a:solidFill>
                  <a:srgbClr val="235CA8"/>
                </a:solidFill>
                <a:latin typeface="Microsoft YaHei"/>
              </a:defRPr>
            </a:pPr>
            <a:r>
              <a:t>ln(x) + ln(gamma) = - DeltaH_fus / R * (1/T - 1/T_fus)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57400"/>
            <a:ext cx="1083564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非迭代：使用无限稀释 ln(gamma_inf)，x_inf = exp(rhs - ln(gamma_inf))。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迭代：求解 ln(gamma(x)) + ln(x) - rhs = 0，得到 x_iter。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质量比：g/g = x_solute * M_solute / [(1 - x_solute) * M_solvent]。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本次 PET 三聚体摩尔质量：638.5722 g/mol；DeltaHfus = 54.3 J/g = 34.6745 kJ/mol。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20" b="0">
                <a:solidFill>
                  <a:srgbClr val="596372"/>
                </a:solidFill>
                <a:latin typeface="Microsoft YaHei"/>
              </a:defRPr>
            </a:pPr>
            <a:r>
              <a:t>依据：openCOSMO-RS OPI Docs 溶解度示例；本地脚本 12 与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300" b="1">
                <a:solidFill>
                  <a:srgbClr val="1C2430"/>
                </a:solidFill>
                <a:latin typeface="Microsoft YaHei"/>
              </a:defRPr>
            </a:pPr>
            <a:r>
              <a:t>文件和脚本索引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596372"/>
                </a:solidFill>
                <a:latin typeface="Microsoft YaHei"/>
              </a:defRPr>
            </a:pPr>
            <a:r>
              <a:t>整理后的目录结构中，正式计算都在 job 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088136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138160"/>
              </a:tblGrid>
              <a:tr h="438912"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内容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路径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GVL/甲酸汇总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job/pet_1_10ns_solubility_results/*.csv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NMP/异丙醇汇总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job/pet_extra_solvent_solubility_results/*.csv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PET 02-10 ns COSMO 文件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job/pet_02_10ns_cosmors_package/*.orcacosmo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小分子 COSMO 文件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job/pet_cosmors_hpc_package 与 job/pet_extra_solvent_cosmors_package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重算 GVL/甲酸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python job/orca_full_workflow/12_calculate_pet_1_10ns_solubility.py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重算 NMP/异丙醇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python job/orca_full_workflow/14_calculate_pet_extra_solvents_solubility.py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20" b="0">
                <a:solidFill>
                  <a:srgbClr val="596372"/>
                </a:solidFill>
                <a:latin typeface="Microsoft YaHei"/>
              </a:defRPr>
            </a:pPr>
            <a:r>
              <a:t>目录说明：README_folder_layout.md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